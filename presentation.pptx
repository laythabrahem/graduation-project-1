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323" r:id="rId2"/>
    <p:sldId id="257" r:id="rId3"/>
    <p:sldId id="258" r:id="rId4"/>
    <p:sldId id="259" r:id="rId5"/>
    <p:sldId id="260" r:id="rId6"/>
    <p:sldId id="337" r:id="rId7"/>
    <p:sldId id="262" r:id="rId8"/>
    <p:sldId id="324" r:id="rId9"/>
    <p:sldId id="325" r:id="rId10"/>
    <p:sldId id="328" r:id="rId11"/>
    <p:sldId id="333" r:id="rId12"/>
    <p:sldId id="327" r:id="rId13"/>
    <p:sldId id="329" r:id="rId14"/>
    <p:sldId id="331" r:id="rId15"/>
    <p:sldId id="326" r:id="rId16"/>
    <p:sldId id="334" r:id="rId17"/>
    <p:sldId id="330" r:id="rId18"/>
    <p:sldId id="335" r:id="rId19"/>
    <p:sldId id="336" r:id="rId20"/>
    <p:sldId id="332" r:id="rId21"/>
    <p:sldId id="263" r:id="rId22"/>
    <p:sldId id="2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9F2878-9F63-41E4-AA46-8680CE3D8B18}" type="doc">
      <dgm:prSet loTypeId="urn:microsoft.com/office/officeart/2005/8/layout/hProcess10" loCatId="process" qsTypeId="urn:microsoft.com/office/officeart/2005/8/quickstyle/3d4" qsCatId="3D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C3C79ADE-0CCC-45F1-B406-A92272CBE9C0}">
      <dgm:prSet phldrT="[Text]"/>
      <dgm:spPr/>
      <dgm:t>
        <a:bodyPr/>
        <a:lstStyle/>
        <a:p>
          <a:r>
            <a:rPr lang="en-US" dirty="0">
              <a:solidFill>
                <a:srgbClr val="0070C0"/>
              </a:solidFill>
            </a:rPr>
            <a:t>Input Image</a:t>
          </a:r>
        </a:p>
      </dgm:t>
    </dgm:pt>
    <dgm:pt modelId="{156D5440-4909-4F05-AE31-190D7BED73F9}" type="parTrans" cxnId="{04DE38BA-A3AD-4801-861E-B7581B284E39}">
      <dgm:prSet/>
      <dgm:spPr/>
      <dgm:t>
        <a:bodyPr/>
        <a:lstStyle/>
        <a:p>
          <a:endParaRPr lang="en-US"/>
        </a:p>
      </dgm:t>
    </dgm:pt>
    <dgm:pt modelId="{8FC0711A-5089-4AD4-8212-9C49359FB658}" type="sibTrans" cxnId="{04DE38BA-A3AD-4801-861E-B7581B284E39}">
      <dgm:prSet/>
      <dgm:spPr/>
      <dgm:t>
        <a:bodyPr/>
        <a:lstStyle/>
        <a:p>
          <a:endParaRPr lang="en-US"/>
        </a:p>
      </dgm:t>
    </dgm:pt>
    <dgm:pt modelId="{AF7F719F-5B83-4FF0-95F7-57A7D42731F4}">
      <dgm:prSet phldrT="[Text]"/>
      <dgm:spPr/>
      <dgm:t>
        <a:bodyPr/>
        <a:lstStyle/>
        <a:p>
          <a:r>
            <a:rPr lang="en-US" dirty="0"/>
            <a:t>Preprocessing </a:t>
          </a:r>
        </a:p>
      </dgm:t>
    </dgm:pt>
    <dgm:pt modelId="{782AFB24-5696-4B14-A1A7-DF364D97E391}" type="parTrans" cxnId="{660E8FBE-7410-486D-9408-FEA6BB2AA2F2}">
      <dgm:prSet/>
      <dgm:spPr/>
      <dgm:t>
        <a:bodyPr/>
        <a:lstStyle/>
        <a:p>
          <a:endParaRPr lang="en-US"/>
        </a:p>
      </dgm:t>
    </dgm:pt>
    <dgm:pt modelId="{F5F8783B-1E88-48B0-8497-AA687D6B14B0}" type="sibTrans" cxnId="{660E8FBE-7410-486D-9408-FEA6BB2AA2F2}">
      <dgm:prSet/>
      <dgm:spPr/>
      <dgm:t>
        <a:bodyPr/>
        <a:lstStyle/>
        <a:p>
          <a:endParaRPr lang="en-US"/>
        </a:p>
      </dgm:t>
    </dgm:pt>
    <dgm:pt modelId="{2E4F8659-54A8-4B45-8D1A-30321845E6F5}">
      <dgm:prSet phldrT="[Text]"/>
      <dgm:spPr/>
      <dgm:t>
        <a:bodyPr/>
        <a:lstStyle/>
        <a:p>
          <a:r>
            <a:rPr lang="en-US" dirty="0">
              <a:solidFill>
                <a:srgbClr val="0070C0"/>
              </a:solidFill>
            </a:rPr>
            <a:t>Model</a:t>
          </a:r>
        </a:p>
        <a:p>
          <a:r>
            <a:rPr lang="en-US" dirty="0">
              <a:solidFill>
                <a:srgbClr val="0070C0"/>
              </a:solidFill>
            </a:rPr>
            <a:t>inceptionV3</a:t>
          </a:r>
        </a:p>
        <a:p>
          <a:r>
            <a:rPr lang="en-US" dirty="0">
              <a:solidFill>
                <a:srgbClr val="0070C0"/>
              </a:solidFill>
            </a:rPr>
            <a:t>ALEX NET</a:t>
          </a:r>
        </a:p>
      </dgm:t>
    </dgm:pt>
    <dgm:pt modelId="{E9416B63-203D-4C09-8AFC-078945A4BE90}" type="parTrans" cxnId="{7868F8F1-09E6-40CB-8814-A5289AA7D145}">
      <dgm:prSet/>
      <dgm:spPr/>
      <dgm:t>
        <a:bodyPr/>
        <a:lstStyle/>
        <a:p>
          <a:endParaRPr lang="en-US"/>
        </a:p>
      </dgm:t>
    </dgm:pt>
    <dgm:pt modelId="{855B52B3-D202-4B67-B1F7-89595C09A9CE}" type="sibTrans" cxnId="{7868F8F1-09E6-40CB-8814-A5289AA7D145}">
      <dgm:prSet/>
      <dgm:spPr/>
      <dgm:t>
        <a:bodyPr/>
        <a:lstStyle/>
        <a:p>
          <a:endParaRPr lang="en-US"/>
        </a:p>
      </dgm:t>
    </dgm:pt>
    <dgm:pt modelId="{D1EC090E-8187-42AC-9351-3A1A587BD022}">
      <dgm:prSet phldrT="[Text]"/>
      <dgm:spPr/>
      <dgm:t>
        <a:bodyPr/>
        <a:lstStyle/>
        <a:p>
          <a:r>
            <a:rPr lang="en-US" dirty="0">
              <a:solidFill>
                <a:srgbClr val="0070C0"/>
              </a:solidFill>
            </a:rPr>
            <a:t>Output </a:t>
          </a:r>
        </a:p>
      </dgm:t>
    </dgm:pt>
    <dgm:pt modelId="{43280D1C-4909-4CD8-92A7-84C2E81AC004}" type="parTrans" cxnId="{ED706071-A67C-43A4-8F46-53C54AD379E2}">
      <dgm:prSet/>
      <dgm:spPr/>
      <dgm:t>
        <a:bodyPr/>
        <a:lstStyle/>
        <a:p>
          <a:endParaRPr lang="en-US"/>
        </a:p>
      </dgm:t>
    </dgm:pt>
    <dgm:pt modelId="{1E09B91F-1A64-4450-9F06-5185772C2204}" type="sibTrans" cxnId="{ED706071-A67C-43A4-8F46-53C54AD379E2}">
      <dgm:prSet/>
      <dgm:spPr/>
      <dgm:t>
        <a:bodyPr/>
        <a:lstStyle/>
        <a:p>
          <a:endParaRPr lang="en-US"/>
        </a:p>
      </dgm:t>
    </dgm:pt>
    <dgm:pt modelId="{C671BB90-83E2-429B-9E1B-1C35A78C09DF}">
      <dgm:prSet phldrT="[Text]"/>
      <dgm:spPr/>
      <dgm:t>
        <a:bodyPr/>
        <a:lstStyle/>
        <a:p>
          <a:endParaRPr lang="en-US" dirty="0">
            <a:solidFill>
              <a:srgbClr val="0070C0"/>
            </a:solidFill>
          </a:endParaRPr>
        </a:p>
      </dgm:t>
    </dgm:pt>
    <dgm:pt modelId="{251A1DEE-C96E-4C62-84EC-B44FBA04C183}" type="parTrans" cxnId="{A3CE2F90-F19E-429B-BE1A-A92C438CF132}">
      <dgm:prSet/>
      <dgm:spPr/>
      <dgm:t>
        <a:bodyPr/>
        <a:lstStyle/>
        <a:p>
          <a:endParaRPr lang="en-US"/>
        </a:p>
      </dgm:t>
    </dgm:pt>
    <dgm:pt modelId="{943E42E0-BEF7-4D14-BF87-9E577738CE2C}" type="sibTrans" cxnId="{A3CE2F90-F19E-429B-BE1A-A92C438CF132}">
      <dgm:prSet/>
      <dgm:spPr/>
      <dgm:t>
        <a:bodyPr/>
        <a:lstStyle/>
        <a:p>
          <a:endParaRPr lang="en-US"/>
        </a:p>
      </dgm:t>
    </dgm:pt>
    <dgm:pt modelId="{61DBCBD8-1604-40D1-8280-0F96907D4328}">
      <dgm:prSet phldrT="[Text]"/>
      <dgm:spPr/>
      <dgm:t>
        <a:bodyPr/>
        <a:lstStyle/>
        <a:p>
          <a:r>
            <a:rPr lang="en-US" dirty="0">
              <a:solidFill>
                <a:srgbClr val="0070C0"/>
              </a:solidFill>
            </a:rPr>
            <a:t>(</a:t>
          </a:r>
          <a:r>
            <a:rPr lang="en-US" dirty="0" err="1">
              <a:solidFill>
                <a:srgbClr val="0070C0"/>
              </a:solidFill>
            </a:rPr>
            <a:t>norma</a:t>
          </a:r>
          <a:r>
            <a:rPr lang="en-US" dirty="0">
              <a:solidFill>
                <a:srgbClr val="0070C0"/>
              </a:solidFill>
            </a:rPr>
            <a:t> , </a:t>
          </a:r>
          <a:r>
            <a:rPr lang="en-US" dirty="0" err="1">
              <a:solidFill>
                <a:srgbClr val="0070C0"/>
              </a:solidFill>
            </a:rPr>
            <a:t>oscc</a:t>
          </a:r>
          <a:r>
            <a:rPr lang="en-US" dirty="0">
              <a:solidFill>
                <a:srgbClr val="0070C0"/>
              </a:solidFill>
            </a:rPr>
            <a:t>)</a:t>
          </a:r>
        </a:p>
      </dgm:t>
    </dgm:pt>
    <dgm:pt modelId="{0D81F4D7-8560-4CF6-9F17-6C2AED04FAEB}" type="parTrans" cxnId="{6B886A7A-9513-4EBB-B39E-7A0F4C46296C}">
      <dgm:prSet/>
      <dgm:spPr/>
      <dgm:t>
        <a:bodyPr/>
        <a:lstStyle/>
        <a:p>
          <a:endParaRPr lang="en-US"/>
        </a:p>
      </dgm:t>
    </dgm:pt>
    <dgm:pt modelId="{52AA5A5D-6D79-4512-807B-7B5CCAC562FB}" type="sibTrans" cxnId="{6B886A7A-9513-4EBB-B39E-7A0F4C46296C}">
      <dgm:prSet/>
      <dgm:spPr/>
      <dgm:t>
        <a:bodyPr/>
        <a:lstStyle/>
        <a:p>
          <a:endParaRPr lang="en-US"/>
        </a:p>
      </dgm:t>
    </dgm:pt>
    <dgm:pt modelId="{3A26C362-8DCF-479C-A3FE-70C013EE043D}" type="pres">
      <dgm:prSet presAssocID="{DD9F2878-9F63-41E4-AA46-8680CE3D8B18}" presName="Name0" presStyleCnt="0">
        <dgm:presLayoutVars>
          <dgm:dir/>
          <dgm:resizeHandles val="exact"/>
        </dgm:presLayoutVars>
      </dgm:prSet>
      <dgm:spPr/>
    </dgm:pt>
    <dgm:pt modelId="{4178689B-D735-41B0-B19E-892470A31DD8}" type="pres">
      <dgm:prSet presAssocID="{C3C79ADE-0CCC-45F1-B406-A92272CBE9C0}" presName="composite" presStyleCnt="0"/>
      <dgm:spPr/>
    </dgm:pt>
    <dgm:pt modelId="{4E705D57-4A0F-493C-A0C0-F46A87DBEDF4}" type="pres">
      <dgm:prSet presAssocID="{C3C79ADE-0CCC-45F1-B406-A92272CBE9C0}" presName="imagSh" presStyleLbl="bgImgPlace1" presStyleIdx="0" presStyleCnt="4" custLinFactNeighborX="150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</dgm:spPr>
    </dgm:pt>
    <dgm:pt modelId="{746EC5E4-97C6-4132-8486-145F78F6928B}" type="pres">
      <dgm:prSet presAssocID="{C3C79ADE-0CCC-45F1-B406-A92272CBE9C0}" presName="txNode" presStyleLbl="node1" presStyleIdx="0" presStyleCnt="4">
        <dgm:presLayoutVars>
          <dgm:bulletEnabled val="1"/>
        </dgm:presLayoutVars>
      </dgm:prSet>
      <dgm:spPr/>
    </dgm:pt>
    <dgm:pt modelId="{9D49DDA7-D054-49D1-B6A1-87FBFEB150D5}" type="pres">
      <dgm:prSet presAssocID="{8FC0711A-5089-4AD4-8212-9C49359FB658}" presName="sibTrans" presStyleLbl="sibTrans2D1" presStyleIdx="0" presStyleCnt="3"/>
      <dgm:spPr/>
    </dgm:pt>
    <dgm:pt modelId="{A6EEACD5-63B3-4675-9931-0CE80715C971}" type="pres">
      <dgm:prSet presAssocID="{8FC0711A-5089-4AD4-8212-9C49359FB658}" presName="connTx" presStyleLbl="sibTrans2D1" presStyleIdx="0" presStyleCnt="3"/>
      <dgm:spPr/>
    </dgm:pt>
    <dgm:pt modelId="{D037C01C-704D-47C4-B259-FE7700527551}" type="pres">
      <dgm:prSet presAssocID="{AF7F719F-5B83-4FF0-95F7-57A7D42731F4}" presName="composite" presStyleCnt="0"/>
      <dgm:spPr/>
    </dgm:pt>
    <dgm:pt modelId="{51968703-4257-4743-AAA9-E5A68D36213B}" type="pres">
      <dgm:prSet presAssocID="{AF7F719F-5B83-4FF0-95F7-57A7D42731F4}" presName="imagSh" presStyleLbl="b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59F9B942-63AB-40D0-91CE-287DBF0CA9B6}" type="pres">
      <dgm:prSet presAssocID="{AF7F719F-5B83-4FF0-95F7-57A7D42731F4}" presName="txNode" presStyleLbl="node1" presStyleIdx="1" presStyleCnt="4">
        <dgm:presLayoutVars>
          <dgm:bulletEnabled val="1"/>
        </dgm:presLayoutVars>
      </dgm:prSet>
      <dgm:spPr/>
    </dgm:pt>
    <dgm:pt modelId="{AE1EA83C-DC1D-4F90-9743-31D93C48E710}" type="pres">
      <dgm:prSet presAssocID="{F5F8783B-1E88-48B0-8497-AA687D6B14B0}" presName="sibTrans" presStyleLbl="sibTrans2D1" presStyleIdx="1" presStyleCnt="3"/>
      <dgm:spPr/>
    </dgm:pt>
    <dgm:pt modelId="{8B471B3D-339B-4C31-A132-95591D061F6C}" type="pres">
      <dgm:prSet presAssocID="{F5F8783B-1E88-48B0-8497-AA687D6B14B0}" presName="connTx" presStyleLbl="sibTrans2D1" presStyleIdx="1" presStyleCnt="3"/>
      <dgm:spPr/>
    </dgm:pt>
    <dgm:pt modelId="{AFF1BF3D-9DCF-435B-BE33-FBDA73A66699}" type="pres">
      <dgm:prSet presAssocID="{2E4F8659-54A8-4B45-8D1A-30321845E6F5}" presName="composite" presStyleCnt="0"/>
      <dgm:spPr/>
    </dgm:pt>
    <dgm:pt modelId="{6B380478-C8B8-4B0D-888A-D55607EDAD1B}" type="pres">
      <dgm:prSet presAssocID="{2E4F8659-54A8-4B45-8D1A-30321845E6F5}" presName="imagSh" presStyleLbl="b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01EF9126-CB6D-4022-8792-2C45A76C9740}" type="pres">
      <dgm:prSet presAssocID="{2E4F8659-54A8-4B45-8D1A-30321845E6F5}" presName="txNode" presStyleLbl="node1" presStyleIdx="2" presStyleCnt="4">
        <dgm:presLayoutVars>
          <dgm:bulletEnabled val="1"/>
        </dgm:presLayoutVars>
      </dgm:prSet>
      <dgm:spPr/>
    </dgm:pt>
    <dgm:pt modelId="{984F03A8-C569-4E24-897B-8AC103A08A8A}" type="pres">
      <dgm:prSet presAssocID="{855B52B3-D202-4B67-B1F7-89595C09A9CE}" presName="sibTrans" presStyleLbl="sibTrans2D1" presStyleIdx="2" presStyleCnt="3"/>
      <dgm:spPr/>
    </dgm:pt>
    <dgm:pt modelId="{26089D57-BFDA-46EC-8D94-450780DCCA85}" type="pres">
      <dgm:prSet presAssocID="{855B52B3-D202-4B67-B1F7-89595C09A9CE}" presName="connTx" presStyleLbl="sibTrans2D1" presStyleIdx="2" presStyleCnt="3"/>
      <dgm:spPr/>
    </dgm:pt>
    <dgm:pt modelId="{8D11800E-F5B4-4F2F-9C26-4D92E3D3062E}" type="pres">
      <dgm:prSet presAssocID="{C671BB90-83E2-429B-9E1B-1C35A78C09DF}" presName="composite" presStyleCnt="0"/>
      <dgm:spPr/>
    </dgm:pt>
    <dgm:pt modelId="{6F7ADD3B-9EF9-4BE3-802E-E3F373653AEA}" type="pres">
      <dgm:prSet presAssocID="{C671BB90-83E2-429B-9E1B-1C35A78C09DF}" presName="imagSh" presStyleLbl="b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1FDC83F-78F9-4ECE-929F-8715D328F9A5}" type="pres">
      <dgm:prSet presAssocID="{C671BB90-83E2-429B-9E1B-1C35A78C09DF}" presName="txNode" presStyleLbl="node1" presStyleIdx="3" presStyleCnt="4">
        <dgm:presLayoutVars>
          <dgm:bulletEnabled val="1"/>
        </dgm:presLayoutVars>
      </dgm:prSet>
      <dgm:spPr/>
    </dgm:pt>
  </dgm:ptLst>
  <dgm:cxnLst>
    <dgm:cxn modelId="{6A5E4115-E553-4C18-A945-C513F40DC6CA}" type="presOf" srcId="{855B52B3-D202-4B67-B1F7-89595C09A9CE}" destId="{984F03A8-C569-4E24-897B-8AC103A08A8A}" srcOrd="0" destOrd="0" presId="urn:microsoft.com/office/officeart/2005/8/layout/hProcess10"/>
    <dgm:cxn modelId="{FCEAB42F-3742-4ED1-A529-D862B5962313}" type="presOf" srcId="{C3C79ADE-0CCC-45F1-B406-A92272CBE9C0}" destId="{746EC5E4-97C6-4132-8486-145F78F6928B}" srcOrd="0" destOrd="0" presId="urn:microsoft.com/office/officeart/2005/8/layout/hProcess10"/>
    <dgm:cxn modelId="{83F7DD3A-1901-41A5-B85A-2C311160A039}" type="presOf" srcId="{F5F8783B-1E88-48B0-8497-AA687D6B14B0}" destId="{AE1EA83C-DC1D-4F90-9743-31D93C48E710}" srcOrd="0" destOrd="0" presId="urn:microsoft.com/office/officeart/2005/8/layout/hProcess10"/>
    <dgm:cxn modelId="{1178893C-1B9D-48BE-B32F-2B01358DCC1D}" type="presOf" srcId="{2E4F8659-54A8-4B45-8D1A-30321845E6F5}" destId="{01EF9126-CB6D-4022-8792-2C45A76C9740}" srcOrd="0" destOrd="0" presId="urn:microsoft.com/office/officeart/2005/8/layout/hProcess10"/>
    <dgm:cxn modelId="{E8E7455C-C2D0-4211-84AC-21189CEDBDBD}" type="presOf" srcId="{61DBCBD8-1604-40D1-8280-0F96907D4328}" destId="{F1FDC83F-78F9-4ECE-929F-8715D328F9A5}" srcOrd="0" destOrd="2" presId="urn:microsoft.com/office/officeart/2005/8/layout/hProcess10"/>
    <dgm:cxn modelId="{ED706071-A67C-43A4-8F46-53C54AD379E2}" srcId="{C671BB90-83E2-429B-9E1B-1C35A78C09DF}" destId="{D1EC090E-8187-42AC-9351-3A1A587BD022}" srcOrd="0" destOrd="0" parTransId="{43280D1C-4909-4CD8-92A7-84C2E81AC004}" sibTransId="{1E09B91F-1A64-4450-9F06-5185772C2204}"/>
    <dgm:cxn modelId="{6B886A7A-9513-4EBB-B39E-7A0F4C46296C}" srcId="{C671BB90-83E2-429B-9E1B-1C35A78C09DF}" destId="{61DBCBD8-1604-40D1-8280-0F96907D4328}" srcOrd="1" destOrd="0" parTransId="{0D81F4D7-8560-4CF6-9F17-6C2AED04FAEB}" sibTransId="{52AA5A5D-6D79-4512-807B-7B5CCAC562FB}"/>
    <dgm:cxn modelId="{F5F31187-F5CB-4246-95D2-36B09AD19143}" type="presOf" srcId="{855B52B3-D202-4B67-B1F7-89595C09A9CE}" destId="{26089D57-BFDA-46EC-8D94-450780DCCA85}" srcOrd="1" destOrd="0" presId="urn:microsoft.com/office/officeart/2005/8/layout/hProcess10"/>
    <dgm:cxn modelId="{A3CE2F90-F19E-429B-BE1A-A92C438CF132}" srcId="{DD9F2878-9F63-41E4-AA46-8680CE3D8B18}" destId="{C671BB90-83E2-429B-9E1B-1C35A78C09DF}" srcOrd="3" destOrd="0" parTransId="{251A1DEE-C96E-4C62-84EC-B44FBA04C183}" sibTransId="{943E42E0-BEF7-4D14-BF87-9E577738CE2C}"/>
    <dgm:cxn modelId="{D052879F-DF4E-4840-9CDB-C42158736A7F}" type="presOf" srcId="{8FC0711A-5089-4AD4-8212-9C49359FB658}" destId="{9D49DDA7-D054-49D1-B6A1-87FBFEB150D5}" srcOrd="0" destOrd="0" presId="urn:microsoft.com/office/officeart/2005/8/layout/hProcess10"/>
    <dgm:cxn modelId="{A65B20A6-6F26-4C8E-BF89-B0031082D6D4}" type="presOf" srcId="{F5F8783B-1E88-48B0-8497-AA687D6B14B0}" destId="{8B471B3D-339B-4C31-A132-95591D061F6C}" srcOrd="1" destOrd="0" presId="urn:microsoft.com/office/officeart/2005/8/layout/hProcess10"/>
    <dgm:cxn modelId="{04DE38BA-A3AD-4801-861E-B7581B284E39}" srcId="{DD9F2878-9F63-41E4-AA46-8680CE3D8B18}" destId="{C3C79ADE-0CCC-45F1-B406-A92272CBE9C0}" srcOrd="0" destOrd="0" parTransId="{156D5440-4909-4F05-AE31-190D7BED73F9}" sibTransId="{8FC0711A-5089-4AD4-8212-9C49359FB658}"/>
    <dgm:cxn modelId="{148C94BB-0FA4-4E0B-90EE-34E54D368DE2}" type="presOf" srcId="{AF7F719F-5B83-4FF0-95F7-57A7D42731F4}" destId="{59F9B942-63AB-40D0-91CE-287DBF0CA9B6}" srcOrd="0" destOrd="0" presId="urn:microsoft.com/office/officeart/2005/8/layout/hProcess10"/>
    <dgm:cxn modelId="{660E8FBE-7410-486D-9408-FEA6BB2AA2F2}" srcId="{DD9F2878-9F63-41E4-AA46-8680CE3D8B18}" destId="{AF7F719F-5B83-4FF0-95F7-57A7D42731F4}" srcOrd="1" destOrd="0" parTransId="{782AFB24-5696-4B14-A1A7-DF364D97E391}" sibTransId="{F5F8783B-1E88-48B0-8497-AA687D6B14B0}"/>
    <dgm:cxn modelId="{87C2A3C6-C222-4F43-9769-1D75519B818D}" type="presOf" srcId="{D1EC090E-8187-42AC-9351-3A1A587BD022}" destId="{F1FDC83F-78F9-4ECE-929F-8715D328F9A5}" srcOrd="0" destOrd="1" presId="urn:microsoft.com/office/officeart/2005/8/layout/hProcess10"/>
    <dgm:cxn modelId="{0BB1ADE2-DCE3-448D-8F25-F06B1DE895A5}" type="presOf" srcId="{DD9F2878-9F63-41E4-AA46-8680CE3D8B18}" destId="{3A26C362-8DCF-479C-A3FE-70C013EE043D}" srcOrd="0" destOrd="0" presId="urn:microsoft.com/office/officeart/2005/8/layout/hProcess10"/>
    <dgm:cxn modelId="{BC6A99E4-46B6-4954-9619-2642D2BC4E6A}" type="presOf" srcId="{C671BB90-83E2-429B-9E1B-1C35A78C09DF}" destId="{F1FDC83F-78F9-4ECE-929F-8715D328F9A5}" srcOrd="0" destOrd="0" presId="urn:microsoft.com/office/officeart/2005/8/layout/hProcess10"/>
    <dgm:cxn modelId="{7868F8F1-09E6-40CB-8814-A5289AA7D145}" srcId="{DD9F2878-9F63-41E4-AA46-8680CE3D8B18}" destId="{2E4F8659-54A8-4B45-8D1A-30321845E6F5}" srcOrd="2" destOrd="0" parTransId="{E9416B63-203D-4C09-8AFC-078945A4BE90}" sibTransId="{855B52B3-D202-4B67-B1F7-89595C09A9CE}"/>
    <dgm:cxn modelId="{D0BB52F5-DE37-43DB-9368-3F697B844EA4}" type="presOf" srcId="{8FC0711A-5089-4AD4-8212-9C49359FB658}" destId="{A6EEACD5-63B3-4675-9931-0CE80715C971}" srcOrd="1" destOrd="0" presId="urn:microsoft.com/office/officeart/2005/8/layout/hProcess10"/>
    <dgm:cxn modelId="{07C3FBE8-FD1B-4117-A55F-CFF704D77F5F}" type="presParOf" srcId="{3A26C362-8DCF-479C-A3FE-70C013EE043D}" destId="{4178689B-D735-41B0-B19E-892470A31DD8}" srcOrd="0" destOrd="0" presId="urn:microsoft.com/office/officeart/2005/8/layout/hProcess10"/>
    <dgm:cxn modelId="{E573CCDB-8199-4F50-AFD0-E8B2B705B5FF}" type="presParOf" srcId="{4178689B-D735-41B0-B19E-892470A31DD8}" destId="{4E705D57-4A0F-493C-A0C0-F46A87DBEDF4}" srcOrd="0" destOrd="0" presId="urn:microsoft.com/office/officeart/2005/8/layout/hProcess10"/>
    <dgm:cxn modelId="{D83164C6-FDAC-4376-A271-DD2BFDA462D4}" type="presParOf" srcId="{4178689B-D735-41B0-B19E-892470A31DD8}" destId="{746EC5E4-97C6-4132-8486-145F78F6928B}" srcOrd="1" destOrd="0" presId="urn:microsoft.com/office/officeart/2005/8/layout/hProcess10"/>
    <dgm:cxn modelId="{637964DD-C821-4C06-AA20-C390137DE662}" type="presParOf" srcId="{3A26C362-8DCF-479C-A3FE-70C013EE043D}" destId="{9D49DDA7-D054-49D1-B6A1-87FBFEB150D5}" srcOrd="1" destOrd="0" presId="urn:microsoft.com/office/officeart/2005/8/layout/hProcess10"/>
    <dgm:cxn modelId="{123CEDD3-2BCE-4EB5-91DD-A085B0871EA7}" type="presParOf" srcId="{9D49DDA7-D054-49D1-B6A1-87FBFEB150D5}" destId="{A6EEACD5-63B3-4675-9931-0CE80715C971}" srcOrd="0" destOrd="0" presId="urn:microsoft.com/office/officeart/2005/8/layout/hProcess10"/>
    <dgm:cxn modelId="{A0CD827C-5639-442F-A897-663ED9F530C1}" type="presParOf" srcId="{3A26C362-8DCF-479C-A3FE-70C013EE043D}" destId="{D037C01C-704D-47C4-B259-FE7700527551}" srcOrd="2" destOrd="0" presId="urn:microsoft.com/office/officeart/2005/8/layout/hProcess10"/>
    <dgm:cxn modelId="{E374663D-6BCC-4B67-973A-DBCCB8C7D4A8}" type="presParOf" srcId="{D037C01C-704D-47C4-B259-FE7700527551}" destId="{51968703-4257-4743-AAA9-E5A68D36213B}" srcOrd="0" destOrd="0" presId="urn:microsoft.com/office/officeart/2005/8/layout/hProcess10"/>
    <dgm:cxn modelId="{C929F780-AFDE-463C-B556-40A305FAD255}" type="presParOf" srcId="{D037C01C-704D-47C4-B259-FE7700527551}" destId="{59F9B942-63AB-40D0-91CE-287DBF0CA9B6}" srcOrd="1" destOrd="0" presId="urn:microsoft.com/office/officeart/2005/8/layout/hProcess10"/>
    <dgm:cxn modelId="{346FC218-A5BA-4899-A7A0-EF012AD1B85B}" type="presParOf" srcId="{3A26C362-8DCF-479C-A3FE-70C013EE043D}" destId="{AE1EA83C-DC1D-4F90-9743-31D93C48E710}" srcOrd="3" destOrd="0" presId="urn:microsoft.com/office/officeart/2005/8/layout/hProcess10"/>
    <dgm:cxn modelId="{22A1D174-51B1-40AB-B086-9E896F9766DC}" type="presParOf" srcId="{AE1EA83C-DC1D-4F90-9743-31D93C48E710}" destId="{8B471B3D-339B-4C31-A132-95591D061F6C}" srcOrd="0" destOrd="0" presId="urn:microsoft.com/office/officeart/2005/8/layout/hProcess10"/>
    <dgm:cxn modelId="{04D213F4-89E7-4437-893A-35A35CDD8BF9}" type="presParOf" srcId="{3A26C362-8DCF-479C-A3FE-70C013EE043D}" destId="{AFF1BF3D-9DCF-435B-BE33-FBDA73A66699}" srcOrd="4" destOrd="0" presId="urn:microsoft.com/office/officeart/2005/8/layout/hProcess10"/>
    <dgm:cxn modelId="{2FAE0137-32D4-4BF2-9A30-DCB1DBF35583}" type="presParOf" srcId="{AFF1BF3D-9DCF-435B-BE33-FBDA73A66699}" destId="{6B380478-C8B8-4B0D-888A-D55607EDAD1B}" srcOrd="0" destOrd="0" presId="urn:microsoft.com/office/officeart/2005/8/layout/hProcess10"/>
    <dgm:cxn modelId="{185A61F3-F278-4C3C-9C1B-2532B70C203F}" type="presParOf" srcId="{AFF1BF3D-9DCF-435B-BE33-FBDA73A66699}" destId="{01EF9126-CB6D-4022-8792-2C45A76C9740}" srcOrd="1" destOrd="0" presId="urn:microsoft.com/office/officeart/2005/8/layout/hProcess10"/>
    <dgm:cxn modelId="{89442A64-CA8C-4C77-AF16-446716187CCC}" type="presParOf" srcId="{3A26C362-8DCF-479C-A3FE-70C013EE043D}" destId="{984F03A8-C569-4E24-897B-8AC103A08A8A}" srcOrd="5" destOrd="0" presId="urn:microsoft.com/office/officeart/2005/8/layout/hProcess10"/>
    <dgm:cxn modelId="{A4C493D6-DA07-4BB7-9B93-DAA613BFB568}" type="presParOf" srcId="{984F03A8-C569-4E24-897B-8AC103A08A8A}" destId="{26089D57-BFDA-46EC-8D94-450780DCCA85}" srcOrd="0" destOrd="0" presId="urn:microsoft.com/office/officeart/2005/8/layout/hProcess10"/>
    <dgm:cxn modelId="{FFED4A3C-3F3C-4A20-BF5B-D7F7808049A1}" type="presParOf" srcId="{3A26C362-8DCF-479C-A3FE-70C013EE043D}" destId="{8D11800E-F5B4-4F2F-9C26-4D92E3D3062E}" srcOrd="6" destOrd="0" presId="urn:microsoft.com/office/officeart/2005/8/layout/hProcess10"/>
    <dgm:cxn modelId="{1427C0BC-EE1A-469E-8ADB-DC4CE5BF9D52}" type="presParOf" srcId="{8D11800E-F5B4-4F2F-9C26-4D92E3D3062E}" destId="{6F7ADD3B-9EF9-4BE3-802E-E3F373653AEA}" srcOrd="0" destOrd="0" presId="urn:microsoft.com/office/officeart/2005/8/layout/hProcess10"/>
    <dgm:cxn modelId="{A4A414E3-FF8B-4546-8AEE-77830ED1F76B}" type="presParOf" srcId="{8D11800E-F5B4-4F2F-9C26-4D92E3D3062E}" destId="{F1FDC83F-78F9-4ECE-929F-8715D328F9A5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05D57-4A0F-493C-A0C0-F46A87DBEDF4}">
      <dsp:nvSpPr>
        <dsp:cNvPr id="0" name=""/>
        <dsp:cNvSpPr/>
      </dsp:nvSpPr>
      <dsp:spPr>
        <a:xfrm>
          <a:off x="26148" y="469897"/>
          <a:ext cx="1651003" cy="165100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EC5E4-97C6-4132-8486-145F78F6928B}">
      <dsp:nvSpPr>
        <dsp:cNvPr id="0" name=""/>
        <dsp:cNvSpPr/>
      </dsp:nvSpPr>
      <dsp:spPr>
        <a:xfrm>
          <a:off x="270035" y="1460499"/>
          <a:ext cx="1651003" cy="1651003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70C0"/>
              </a:solidFill>
            </a:rPr>
            <a:t>Input Image</a:t>
          </a:r>
        </a:p>
      </dsp:txBody>
      <dsp:txXfrm>
        <a:off x="318391" y="1508855"/>
        <a:ext cx="1554291" cy="1554291"/>
      </dsp:txXfrm>
    </dsp:sp>
    <dsp:sp modelId="{9D49DDA7-D054-49D1-B6A1-87FBFEB150D5}">
      <dsp:nvSpPr>
        <dsp:cNvPr id="0" name=""/>
        <dsp:cNvSpPr/>
      </dsp:nvSpPr>
      <dsp:spPr>
        <a:xfrm>
          <a:off x="1986463" y="1097042"/>
          <a:ext cx="309311" cy="3967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986463" y="1176385"/>
        <a:ext cx="216518" cy="238027"/>
      </dsp:txXfrm>
    </dsp:sp>
    <dsp:sp modelId="{51968703-4257-4743-AAA9-E5A68D36213B}">
      <dsp:nvSpPr>
        <dsp:cNvPr id="0" name=""/>
        <dsp:cNvSpPr/>
      </dsp:nvSpPr>
      <dsp:spPr>
        <a:xfrm>
          <a:off x="2560898" y="469897"/>
          <a:ext cx="1651003" cy="165100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9B942-63AB-40D0-91CE-287DBF0CA9B6}">
      <dsp:nvSpPr>
        <dsp:cNvPr id="0" name=""/>
        <dsp:cNvSpPr/>
      </dsp:nvSpPr>
      <dsp:spPr>
        <a:xfrm>
          <a:off x="2829666" y="1460499"/>
          <a:ext cx="1651003" cy="1651003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85039"/>
            <a:satOff val="2035"/>
            <a:lumOff val="1909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Preprocessing </a:t>
          </a:r>
        </a:p>
      </dsp:txBody>
      <dsp:txXfrm>
        <a:off x="2878022" y="1508855"/>
        <a:ext cx="1554291" cy="1554291"/>
      </dsp:txXfrm>
    </dsp:sp>
    <dsp:sp modelId="{AE1EA83C-DC1D-4F90-9743-31D93C48E710}">
      <dsp:nvSpPr>
        <dsp:cNvPr id="0" name=""/>
        <dsp:cNvSpPr/>
      </dsp:nvSpPr>
      <dsp:spPr>
        <a:xfrm>
          <a:off x="4529921" y="1097042"/>
          <a:ext cx="318019" cy="3967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119482"/>
            <a:satOff val="-2144"/>
            <a:lumOff val="1764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529921" y="1176385"/>
        <a:ext cx="222613" cy="238027"/>
      </dsp:txXfrm>
    </dsp:sp>
    <dsp:sp modelId="{6B380478-C8B8-4B0D-888A-D55607EDAD1B}">
      <dsp:nvSpPr>
        <dsp:cNvPr id="0" name=""/>
        <dsp:cNvSpPr/>
      </dsp:nvSpPr>
      <dsp:spPr>
        <a:xfrm>
          <a:off x="5120529" y="469897"/>
          <a:ext cx="1651003" cy="165100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F9126-CB6D-4022-8792-2C45A76C9740}">
      <dsp:nvSpPr>
        <dsp:cNvPr id="0" name=""/>
        <dsp:cNvSpPr/>
      </dsp:nvSpPr>
      <dsp:spPr>
        <a:xfrm>
          <a:off x="5389297" y="1460499"/>
          <a:ext cx="1651003" cy="1651003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170078"/>
            <a:satOff val="4069"/>
            <a:lumOff val="3818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70C0"/>
              </a:solidFill>
            </a:rPr>
            <a:t>Model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70C0"/>
              </a:solidFill>
            </a:rPr>
            <a:t>inceptionV3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70C0"/>
              </a:solidFill>
            </a:rPr>
            <a:t>ALEX NET</a:t>
          </a:r>
        </a:p>
      </dsp:txBody>
      <dsp:txXfrm>
        <a:off x="5437653" y="1508855"/>
        <a:ext cx="1554291" cy="1554291"/>
      </dsp:txXfrm>
    </dsp:sp>
    <dsp:sp modelId="{984F03A8-C569-4E24-897B-8AC103A08A8A}">
      <dsp:nvSpPr>
        <dsp:cNvPr id="0" name=""/>
        <dsp:cNvSpPr/>
      </dsp:nvSpPr>
      <dsp:spPr>
        <a:xfrm>
          <a:off x="7089552" y="1097042"/>
          <a:ext cx="318019" cy="3967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119482"/>
            <a:satOff val="-2144"/>
            <a:lumOff val="1764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089552" y="1176385"/>
        <a:ext cx="222613" cy="238027"/>
      </dsp:txXfrm>
    </dsp:sp>
    <dsp:sp modelId="{6F7ADD3B-9EF9-4BE3-802E-E3F373653AEA}">
      <dsp:nvSpPr>
        <dsp:cNvPr id="0" name=""/>
        <dsp:cNvSpPr/>
      </dsp:nvSpPr>
      <dsp:spPr>
        <a:xfrm>
          <a:off x="7680160" y="469897"/>
          <a:ext cx="1651003" cy="165100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DC83F-78F9-4ECE-929F-8715D328F9A5}">
      <dsp:nvSpPr>
        <dsp:cNvPr id="0" name=""/>
        <dsp:cNvSpPr/>
      </dsp:nvSpPr>
      <dsp:spPr>
        <a:xfrm>
          <a:off x="7948928" y="1460499"/>
          <a:ext cx="1651003" cy="1651003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85039"/>
            <a:satOff val="2035"/>
            <a:lumOff val="1909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>
            <a:solidFill>
              <a:srgbClr val="0070C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0070C0"/>
              </a:solidFill>
            </a:rPr>
            <a:t>Output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0070C0"/>
              </a:solidFill>
            </a:rPr>
            <a:t>(</a:t>
          </a:r>
          <a:r>
            <a:rPr lang="en-US" sz="1400" kern="1200" dirty="0" err="1">
              <a:solidFill>
                <a:srgbClr val="0070C0"/>
              </a:solidFill>
            </a:rPr>
            <a:t>norma</a:t>
          </a:r>
          <a:r>
            <a:rPr lang="en-US" sz="1400" kern="1200" dirty="0">
              <a:solidFill>
                <a:srgbClr val="0070C0"/>
              </a:solidFill>
            </a:rPr>
            <a:t> , </a:t>
          </a:r>
          <a:r>
            <a:rPr lang="en-US" sz="1400" kern="1200" dirty="0" err="1">
              <a:solidFill>
                <a:srgbClr val="0070C0"/>
              </a:solidFill>
            </a:rPr>
            <a:t>oscc</a:t>
          </a:r>
          <a:r>
            <a:rPr lang="en-US" sz="1400" kern="1200" dirty="0">
              <a:solidFill>
                <a:srgbClr val="0070C0"/>
              </a:solidFill>
            </a:rPr>
            <a:t>)</a:t>
          </a:r>
        </a:p>
      </dsp:txBody>
      <dsp:txXfrm>
        <a:off x="7997284" y="1508855"/>
        <a:ext cx="1554291" cy="1554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2691E-CE1E-4978-8A6A-0F0389A51D6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BBE77-87C7-46ED-9948-20E3B4BBD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8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816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1AA7A71-BF65-4B90-9AB1-7BD19B6C1A1B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DA51-124E-498E-9906-3D6D560C05F8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BF9C4C-8C16-43FE-9E79-FB023FA19A0F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92B55-3AE0-4873-89B3-EA8377DA2F86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DC96-7F30-44D6-B75D-5F6A1D873B9F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8F7AB-2D3D-4660-8ADB-8F9ADED2E62A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6235-3640-40DB-B5B5-C578B1780659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44D254-D97B-4D0E-99D7-E3E95C5A4E14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D708C8-B7D2-4CD5-AFED-305EFE771F61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4C61A-0D8A-4B99-BC1C-1807726F55B5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B9B-50DB-458C-8045-13CB1EC4131D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4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C9A49F-E729-40F0-92AC-28D9092AB0B7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7460" y="457200"/>
            <a:ext cx="3164540" cy="1308848"/>
          </a:xfrm>
        </p:spPr>
        <p:txBody>
          <a:bodyPr/>
          <a:lstStyle/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الجامعة السورية الخاصة </a:t>
            </a: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ar-S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كلية هندسة الحاسوب و المعلوماتية</a:t>
            </a: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ar-SA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قسم الذكاء الصنعي و علوم البيانات</a:t>
            </a:r>
            <a:endParaRPr lang="en-US" sz="2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195482" y="1631603"/>
            <a:ext cx="4688542" cy="1722125"/>
          </a:xfrm>
        </p:spPr>
        <p:txBody>
          <a:bodyPr>
            <a:normAutofit/>
          </a:bodyPr>
          <a:lstStyle/>
          <a:p>
            <a:pPr algn="ctr" rtl="1"/>
            <a:endParaRPr lang="ar-SY" sz="2400" b="1" dirty="0"/>
          </a:p>
          <a:p>
            <a:pPr marL="0" indent="0" algn="ctr" rtl="1">
              <a:buNone/>
            </a:pPr>
            <a:r>
              <a:rPr lang="ar-SY" sz="2400" b="1" dirty="0"/>
              <a:t>قراءة الصور الطبية الخاصة بالتشريح الطبي</a:t>
            </a:r>
          </a:p>
          <a:p>
            <a:pPr marL="0" indent="0" algn="ctr" rtl="1">
              <a:buNone/>
            </a:pPr>
            <a:r>
              <a:rPr lang="ar-SY" sz="2400" b="1" dirty="0"/>
              <a:t>(سرطان الفم)</a:t>
            </a:r>
          </a:p>
          <a:p>
            <a:pPr algn="ctr" rtl="1"/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18847" y="3504273"/>
            <a:ext cx="2757156" cy="2968245"/>
          </a:xfrm>
        </p:spPr>
        <p:txBody>
          <a:bodyPr/>
          <a:lstStyle/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إعداد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ليث الابراهيم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إشراف:</a:t>
            </a:r>
          </a:p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د.ماجدة</a:t>
            </a:r>
            <a:r>
              <a:rPr lang="ar-SA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بكور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م.</a:t>
            </a:r>
            <a:r>
              <a:rPr lang="ar-SA" sz="18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فرح</a:t>
            </a:r>
            <a:r>
              <a:rPr lang="ar-SA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فارس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5F2E68-2FA1-4EEA-825B-84263FFC50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90" y="457201"/>
            <a:ext cx="2624915" cy="13088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06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370A-E916-4A75-8EF9-40FB2C41D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319" y="221942"/>
            <a:ext cx="11232776" cy="6636058"/>
          </a:xfrm>
        </p:spPr>
        <p:txBody>
          <a:bodyPr/>
          <a:lstStyle/>
          <a:p>
            <a:pPr marL="0" indent="0" algn="r" rtl="1">
              <a:buNone/>
            </a:pPr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أهمية اكتشاف سرطان الفم المبكر باستخدام الذكاء الاصطناعي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0" indent="0" algn="r" rtl="1">
              <a:buNone/>
            </a:pP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ar-SY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سرطان الفم يُعد من أكثر أنواع السرطانات شيوعًا في مناطق معينة من العالم.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SY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الاكتشاف المبكر يزيد فرص العلاج والنجاة بشكل كبير.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SY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التشخيص التقليدي يعتمد على خبرة الأطباء، وقد يتأثر بعوامل بشرية مثل التعب أو نقص الخبرة.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SY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الذكاء الاصطناعي يمكن أن يساهم في دعم الأطباء وتحسين دقة وسرعة التشخيص.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SY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تطبيق تقنيات التعلم العميق يوفر أداة قوية لتحليل الصور الطبية.</a:t>
            </a:r>
            <a:endParaRPr lang="en-US"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294BEB-72C9-4C4A-B743-F12BBBAA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9" y="2675965"/>
            <a:ext cx="3662082" cy="3662082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166F6110-8D8B-7485-A787-F604892D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A8613C6-C9DF-35FE-3BE2-46ECFE15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498-AB3D-46C5-91E6-DD2829A63478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28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2F3F8-503E-4CE6-818D-1675A869B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336" y="0"/>
            <a:ext cx="10271464" cy="5867400"/>
          </a:xfrm>
        </p:spPr>
        <p:txBody>
          <a:bodyPr>
            <a:normAutofit lnSpcReduction="10000"/>
          </a:bodyPr>
          <a:lstStyle/>
          <a:p>
            <a:pPr marL="0" indent="0" algn="r" rtl="1">
              <a:buNone/>
            </a:pPr>
            <a:endParaRPr lang="ar-SY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0" indent="0" algn="r" rtl="1">
              <a:buNone/>
            </a:pPr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المشكلة التي يحلها المشروع</a:t>
            </a:r>
          </a:p>
          <a:p>
            <a:pPr marL="0" indent="0" algn="r" rtl="1">
              <a:buNone/>
            </a:pPr>
            <a:endParaRPr lang="ar-SY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صعوبة الكشف المبكر لسرطان الخلايا الحرشفية الفموية (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OSCC</a:t>
            </a:r>
            <a:r>
              <a:rPr lang="ar-SY" sz="2800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) بسبب تشابه الأعراض مع التهابات أو تقرحات غير سرطانية.</a:t>
            </a:r>
          </a:p>
          <a:p>
            <a:pPr marL="571500" indent="-571500" algn="r" rtl="1">
              <a:buFont typeface="+mj-lt"/>
              <a:buAutoNum type="romanLcPeriod"/>
            </a:pPr>
            <a:endParaRPr lang="ar-SY" sz="2800" dirty="0">
              <a:solidFill>
                <a:schemeClr val="bg2">
                  <a:lumMod val="10000"/>
                </a:schemeClr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النقص في عدد المختصين المؤهلين في بعض المناطق.</a:t>
            </a:r>
          </a:p>
          <a:p>
            <a:pPr marL="571500" indent="-571500" algn="r" rtl="1">
              <a:buFont typeface="+mj-lt"/>
              <a:buAutoNum type="romanLcPeriod"/>
            </a:pPr>
            <a:endParaRPr lang="ar-SY" sz="2800" dirty="0">
              <a:solidFill>
                <a:schemeClr val="bg2">
                  <a:lumMod val="10000"/>
                </a:schemeClr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الاعتماد الكامل على الفحص البصري والمعاينة اليدوية قد يؤدي إلى تشخيص متأخر.</a:t>
            </a:r>
          </a:p>
          <a:p>
            <a:pPr marL="571500" indent="-571500" algn="r" rtl="1">
              <a:buFont typeface="+mj-lt"/>
              <a:buAutoNum type="romanLcPeriod"/>
            </a:pPr>
            <a:endParaRPr lang="ar-SY" sz="2800" dirty="0">
              <a:solidFill>
                <a:schemeClr val="bg2">
                  <a:lumMod val="10000"/>
                </a:schemeClr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الحاجة إلى أداة موثوقة وسريعة تساعد في تسريع عملية التشخيص وتحسين دقته.</a:t>
            </a:r>
          </a:p>
          <a:p>
            <a:pPr marL="0" indent="0" algn="r" rtl="1">
              <a:buNone/>
            </a:pPr>
            <a:endParaRPr lang="ar-SY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0" indent="0" algn="r" rtl="1">
              <a:buNone/>
            </a:pP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6B94E89E-D7A6-B093-F7B7-ED7719E2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6663B92-59E7-2AEF-CE25-19D78D12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B4C5-6921-48DB-A0C5-49B24C5841F4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9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12AD-034A-4255-9989-05E113FE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423" y="247650"/>
            <a:ext cx="9601200" cy="1485900"/>
          </a:xfrm>
        </p:spPr>
        <p:txBody>
          <a:bodyPr>
            <a:normAutofit/>
          </a:bodyPr>
          <a:lstStyle/>
          <a:p>
            <a:pPr algn="r" rtl="1"/>
            <a:r>
              <a:rPr lang="ar-SY" sz="32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الفوائد المتوقعة من المشروع</a:t>
            </a:r>
            <a:endParaRPr lang="en-US" sz="32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2F99B7-78A2-41A4-9BCE-C9573BCA1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06" y="1543050"/>
            <a:ext cx="11044517" cy="5135655"/>
          </a:xfrm>
        </p:spPr>
        <p:txBody>
          <a:bodyPr>
            <a:noAutofit/>
          </a:bodyPr>
          <a:lstStyle/>
          <a:p>
            <a:pPr marL="514350" indent="-51435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المساعدة في اكتشاف سرطان الفم في مراحل مبكرة.</a:t>
            </a:r>
          </a:p>
          <a:p>
            <a:pPr marL="514350" indent="-514350" algn="r" rtl="1">
              <a:buFont typeface="+mj-lt"/>
              <a:buAutoNum type="romanLcPeriod"/>
            </a:pPr>
            <a:endParaRPr lang="ar-SY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14350" indent="-51435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تقليل نسبة التشخيص الخاطئ.</a:t>
            </a:r>
          </a:p>
          <a:p>
            <a:pPr marL="514350" indent="-514350" algn="r" rtl="1">
              <a:buFont typeface="+mj-lt"/>
              <a:buAutoNum type="romanLcPeriod"/>
            </a:pPr>
            <a:endParaRPr lang="ar-SY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14350" indent="-51435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دعم الأطباء والمختصين في اتخاذ قرارات مبنية على تحليل دقيق للصور.</a:t>
            </a:r>
          </a:p>
          <a:p>
            <a:pPr marL="514350" indent="-514350" algn="r" rtl="1">
              <a:buFont typeface="+mj-lt"/>
              <a:buAutoNum type="romanLcPeriod"/>
            </a:pPr>
            <a:endParaRPr lang="ar-SY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14350" indent="-51435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تسريع عملية الفحص دون الحاجة لمعدات باهظة الثمن.</a:t>
            </a:r>
          </a:p>
          <a:p>
            <a:pPr marL="514350" indent="-514350" algn="r" rtl="1">
              <a:buFont typeface="+mj-lt"/>
              <a:buAutoNum type="romanLcPeriod"/>
            </a:pPr>
            <a:endParaRPr lang="ar-SY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14350" indent="-51435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إمكانية دمج النموذج في تطبيقات متنقلة أو أنظمة طبية ذكية مستقبلًا.</a:t>
            </a:r>
          </a:p>
          <a:p>
            <a:pPr marL="514350" indent="-514350" algn="r" rtl="1">
              <a:buFont typeface="+mj-lt"/>
              <a:buAutoNum type="romanLcPeriod"/>
            </a:pPr>
            <a:endParaRPr lang="ar-SY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14350" indent="-514350" algn="r" rtl="1">
              <a:buFont typeface="+mj-lt"/>
              <a:buAutoNum type="romanLcPeriod"/>
            </a:pP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0E4FD-F4A9-43C2-9875-8D7B9F12F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6" y="2531969"/>
            <a:ext cx="4782110" cy="3188073"/>
          </a:xfrm>
          <a:prstGeom prst="rect">
            <a:avLst/>
          </a:prstGeom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BA30BADE-16A1-30CE-20B7-4B3D9581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0AD8E9B2-1D0D-868A-2558-84FFF84D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F4371-9CF9-4329-B2A2-0878A57A1380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3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31732-C46A-4F56-AFC2-48D4FB1C4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41" y="1649507"/>
            <a:ext cx="11196918" cy="4885764"/>
          </a:xfrm>
        </p:spPr>
        <p:txBody>
          <a:bodyPr>
            <a:normAutofit/>
          </a:bodyPr>
          <a:lstStyle/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تطوير نموذج ذكاء اصطناعي في تصنيف الصور الطبية.</a:t>
            </a: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تدريب النموذج على مجموعة بيانات متخصصة تحتوي على صور مصنفة بدقة.</a:t>
            </a: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إجراء معالجة مسبقة للصور.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71500" indent="-571500" algn="r" rtl="1">
              <a:buFont typeface="+mj-lt"/>
              <a:buAutoNum type="romanLcPeriod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تصميم النموذج لتصنيف الصور إلى فئتين:</a:t>
            </a:r>
          </a:p>
          <a:p>
            <a:pPr marL="571500" indent="-571500" algn="r" rtl="1">
              <a:buFont typeface="+mj-lt"/>
              <a:buAutoNum type="romanLcPeriod"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🔹 </a:t>
            </a: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سليمة (</a:t>
            </a: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Normal</a:t>
            </a: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)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marL="571500" indent="-571500" algn="r" rtl="1">
              <a:buFont typeface="+mj-lt"/>
              <a:buAutoNum type="romanLcPeriod"/>
            </a:pP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🔸 </a:t>
            </a: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مصابة بسرطان الفم </a:t>
            </a: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OSCC)</a:t>
            </a: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)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5" name="AutoShape 2" descr="5 أسباب لسرطان الفم و7 طرق للوقاية منه">
            <a:extLst>
              <a:ext uri="{FF2B5EF4-FFF2-40B4-BE49-F238E27FC236}">
                <a16:creationId xmlns:a16="http://schemas.microsoft.com/office/drawing/2014/main" id="{827768ED-4302-430A-A2B9-C4538350B077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1371600" y="206188"/>
            <a:ext cx="10210800" cy="114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الحل المقترح باستخدام نموذج ذكاء اصطناعي متقدم</a:t>
            </a:r>
            <a:br>
              <a:rPr lang="ar-SY" sz="2800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endParaRPr lang="en-US" sz="2800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3078" name="Picture 6" descr="Harnessing artificial intelligence role in oral cancer diagnosis and  prediction: A comprehensive exploration - ScienceDirect">
            <a:extLst>
              <a:ext uri="{FF2B5EF4-FFF2-40B4-BE49-F238E27FC236}">
                <a16:creationId xmlns:a16="http://schemas.microsoft.com/office/drawing/2014/main" id="{81B38D61-E5C6-4841-9C9F-FEB7591DB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1" y="2679606"/>
            <a:ext cx="4546227" cy="378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0C022C8D-3EDB-4921-A660-4C7BCCE3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0D228D04-7A66-F5A6-F9F5-6AC936031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6FC8-0090-4580-B6F5-60DD47226ADC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8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عنصر نائب للمحتوى 5">
            <a:extLst>
              <a:ext uri="{FF2B5EF4-FFF2-40B4-BE49-F238E27FC236}">
                <a16:creationId xmlns:a16="http://schemas.microsoft.com/office/drawing/2014/main" id="{4F948DDD-23B6-EA54-3CF8-C9C044A70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232470"/>
              </p:ext>
            </p:extLst>
          </p:nvPr>
        </p:nvGraphicFramePr>
        <p:xfrm>
          <a:off x="1455923" y="996257"/>
          <a:ext cx="9699812" cy="505044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103961">
                  <a:extLst>
                    <a:ext uri="{9D8B030D-6E8A-4147-A177-3AD203B41FA5}">
                      <a16:colId xmlns:a16="http://schemas.microsoft.com/office/drawing/2014/main" val="3430389738"/>
                    </a:ext>
                  </a:extLst>
                </a:gridCol>
                <a:gridCol w="1905528">
                  <a:extLst>
                    <a:ext uri="{9D8B030D-6E8A-4147-A177-3AD203B41FA5}">
                      <a16:colId xmlns:a16="http://schemas.microsoft.com/office/drawing/2014/main" val="1022330097"/>
                    </a:ext>
                  </a:extLst>
                </a:gridCol>
                <a:gridCol w="4019216">
                  <a:extLst>
                    <a:ext uri="{9D8B030D-6E8A-4147-A177-3AD203B41FA5}">
                      <a16:colId xmlns:a16="http://schemas.microsoft.com/office/drawing/2014/main" val="3741683138"/>
                    </a:ext>
                  </a:extLst>
                </a:gridCol>
                <a:gridCol w="833608">
                  <a:extLst>
                    <a:ext uri="{9D8B030D-6E8A-4147-A177-3AD203B41FA5}">
                      <a16:colId xmlns:a16="http://schemas.microsoft.com/office/drawing/2014/main" val="3961455258"/>
                    </a:ext>
                  </a:extLst>
                </a:gridCol>
                <a:gridCol w="837499">
                  <a:extLst>
                    <a:ext uri="{9D8B030D-6E8A-4147-A177-3AD203B41FA5}">
                      <a16:colId xmlns:a16="http://schemas.microsoft.com/office/drawing/2014/main" val="3979477057"/>
                    </a:ext>
                  </a:extLst>
                </a:gridCol>
              </a:tblGrid>
              <a:tr h="25124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النتائج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النموذج المدرب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 dirty="0">
                          <a:effectLst/>
                        </a:rPr>
                        <a:t>عنوان الدراسة</a:t>
                      </a:r>
                      <a:endParaRPr lang="en-US" sz="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السنة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الرقم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256638353"/>
                  </a:ext>
                </a:extLst>
              </a:tr>
              <a:tr h="764795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دقة </a:t>
                      </a:r>
                      <a:r>
                        <a:rPr lang="en-US" sz="700">
                          <a:effectLst/>
                        </a:rPr>
                        <a:t>SVM</a:t>
                      </a:r>
                      <a:r>
                        <a:rPr lang="ar-SA" sz="700">
                          <a:effectLst/>
                        </a:rPr>
                        <a:t> هي 98%، ودقة </a:t>
                      </a:r>
                      <a:r>
                        <a:rPr lang="en-US" sz="700">
                          <a:effectLst/>
                        </a:rPr>
                        <a:t>KNN</a:t>
                      </a:r>
                      <a:r>
                        <a:rPr lang="ar-SA" sz="700">
                          <a:effectLst/>
                        </a:rPr>
                        <a:t> هي 83%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700">
                          <a:effectLst/>
                        </a:rPr>
                        <a:t>SVM</a:t>
                      </a:r>
                      <a:r>
                        <a:rPr lang="ar-SA" sz="700">
                          <a:effectLst/>
                        </a:rPr>
                        <a:t> و</a:t>
                      </a:r>
                      <a:r>
                        <a:rPr lang="en-US" sz="700">
                          <a:effectLst/>
                        </a:rPr>
                        <a:t>KNN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تحليل الصور النسيجية المرضية لتصنيف سرطان الفم باستخدام جهاز ناقل الدعم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1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4173696881"/>
                  </a:ext>
                </a:extLst>
              </a:tr>
              <a:tr h="764795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دقة 89.47% إلى 100%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700">
                          <a:effectLst/>
                        </a:rPr>
                        <a:t>CNN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تطبيق وأداء الذكاء الاصطناعي في تشخيص سرطان الفم والتنبؤ به باستخدام الصور النسيجية المرضية: مراجعة منهجية سانجي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2023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2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3311800133"/>
                  </a:ext>
                </a:extLst>
              </a:tr>
              <a:tr h="722823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دقة 99% في التمييز بين الأنسجة الطبيعية وسرطان الخلايا الحرشفية الفموي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900">
                          <a:effectLst/>
                        </a:rPr>
                        <a:t>EfficientNet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الكشف عن سرطان الخلايا الحرشفية في الفم باستخدام </a:t>
                      </a:r>
                      <a:r>
                        <a:rPr lang="en-US" sz="700">
                          <a:effectLst/>
                        </a:rPr>
                        <a:t>EfficientNet</a:t>
                      </a:r>
                      <a:r>
                        <a:rPr lang="ar-SA" sz="700">
                          <a:effectLst/>
                        </a:rPr>
                        <a:t> على الصور النسيجية المرضية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2024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 dirty="0">
                          <a:effectLst/>
                        </a:rPr>
                        <a:t>3</a:t>
                      </a:r>
                      <a:endParaRPr lang="en-US" sz="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1702949837"/>
                  </a:ext>
                </a:extLst>
              </a:tr>
              <a:tr h="764795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حساسية 100% وخصوصية 80.6%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الشبكة العصبية العميقة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نظام تشخيص نسيجي مرضي قابل للتطبيق سريريًا للكشف عن سرطان المعدة باستخدام التعلم العميق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4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353535893"/>
                  </a:ext>
                </a:extLst>
              </a:tr>
              <a:tr h="764795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دقة 98%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700">
                          <a:effectLst/>
                        </a:rPr>
                        <a:t>SVM , CNN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تقنيات التعلم الآلي المستخدمة في تحليل الصور النسيجية لسرطان الفم - مراجعة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5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1701902221"/>
                  </a:ext>
                </a:extLst>
              </a:tr>
              <a:tr h="1017199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97.66% دقة للتدريب و 90.06% للاختبار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700">
                          <a:effectLst/>
                        </a:rPr>
                        <a:t>ALEX NET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>
                          <a:effectLst/>
                        </a:rPr>
                        <a:t>التنبؤ بسرطان الفم النسيجي المرضي باستخدام خزعة سرطان الخلايا الحرشفية الفموية مع تمكين التعلم الانتقالي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SA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700" dirty="0">
                          <a:effectLst/>
                        </a:rPr>
                        <a:t>6</a:t>
                      </a:r>
                      <a:endParaRPr lang="en-US" sz="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643" marR="44643" marT="0" marB="0"/>
                </a:tc>
                <a:extLst>
                  <a:ext uri="{0D108BD9-81ED-4DB2-BD59-A6C34878D82A}">
                    <a16:rowId xmlns:a16="http://schemas.microsoft.com/office/drawing/2014/main" val="3544810549"/>
                  </a:ext>
                </a:extLst>
              </a:tr>
            </a:tbl>
          </a:graphicData>
        </a:graphic>
      </p:graphicFrame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6F3A339-5FAA-4A70-EA0E-0B07717D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DA51-124E-498E-9906-3D6D560C05F8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2507263-7860-2957-23B7-1CC0D886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665F0D22-858A-5AEE-2157-254B6508D829}"/>
              </a:ext>
            </a:extLst>
          </p:cNvPr>
          <p:cNvSpPr txBox="1"/>
          <p:nvPr/>
        </p:nvSpPr>
        <p:spPr>
          <a:xfrm>
            <a:off x="6499412" y="251012"/>
            <a:ext cx="486783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1600" dirty="0"/>
              <a:t>ملخص الدراسات المرجعية:</a:t>
            </a:r>
          </a:p>
        </p:txBody>
      </p:sp>
    </p:spTree>
    <p:extLst>
      <p:ext uri="{BB962C8B-B14F-4D97-AF65-F5344CB8AC3E}">
        <p14:creationId xmlns:p14="http://schemas.microsoft.com/office/powerpoint/2010/main" val="237959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E81D-5DEB-423E-9E5E-2E943A02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739587"/>
            <a:ext cx="9601200" cy="860613"/>
          </a:xfrm>
        </p:spPr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خطوات بناء المشروع (خوارزمية الحل)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467E7C-379A-4E57-8665-4A56F15E5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123627"/>
              </p:ext>
            </p:extLst>
          </p:nvPr>
        </p:nvGraphicFramePr>
        <p:xfrm>
          <a:off x="1371600" y="2304661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3A414BAE-0858-E65C-844D-239BA5C2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0C7BA00F-1B52-73E4-BD6D-803E1A34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B93E-F89B-470E-871D-4EED602552D4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274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BE97-E3EA-4C17-AF7A-E387C230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مجموعة البيانات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77C9509-67F3-47D3-9135-F3CB88D83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995068"/>
              </p:ext>
            </p:extLst>
          </p:nvPr>
        </p:nvGraphicFramePr>
        <p:xfrm>
          <a:off x="684029" y="3110753"/>
          <a:ext cx="11507972" cy="3731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753986">
                  <a:extLst>
                    <a:ext uri="{9D8B030D-6E8A-4147-A177-3AD203B41FA5}">
                      <a16:colId xmlns:a16="http://schemas.microsoft.com/office/drawing/2014/main" val="899117642"/>
                    </a:ext>
                  </a:extLst>
                </a:gridCol>
                <a:gridCol w="5753986">
                  <a:extLst>
                    <a:ext uri="{9D8B030D-6E8A-4147-A177-3AD203B41FA5}">
                      <a16:colId xmlns:a16="http://schemas.microsoft.com/office/drawing/2014/main" val="437564456"/>
                    </a:ext>
                  </a:extLst>
                </a:gridCol>
              </a:tblGrid>
              <a:tr h="1279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Histopathologic Oral Cancer Detection using CNNs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SY" dirty="0"/>
                        <a:t>اسم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45667"/>
                  </a:ext>
                </a:extLst>
              </a:tr>
              <a:tr h="518833">
                <a:tc>
                  <a:txBody>
                    <a:bodyPr/>
                    <a:lstStyle/>
                    <a:p>
                      <a:pPr algn="ctr" rtl="1"/>
                      <a:r>
                        <a:rPr lang="ar-SY" dirty="0"/>
                        <a:t>4946 صورة مصنفة إلى </a:t>
                      </a:r>
                      <a:r>
                        <a:rPr lang="en-US" dirty="0"/>
                        <a:t> normal and </a:t>
                      </a:r>
                      <a:r>
                        <a:rPr lang="en-US" dirty="0" err="1"/>
                        <a:t>oscc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Y" dirty="0"/>
                        <a:t>عدد الصور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97833"/>
                  </a:ext>
                </a:extLst>
              </a:tr>
              <a:tr h="895518">
                <a:tc>
                  <a:txBody>
                    <a:bodyPr/>
                    <a:lstStyle/>
                    <a:p>
                      <a:pPr algn="ctr" rtl="1"/>
                      <a:r>
                        <a:rPr lang="ar-SY" dirty="0" err="1"/>
                        <a:t>ألتقطت</a:t>
                      </a:r>
                      <a:r>
                        <a:rPr lang="ar-SY" dirty="0"/>
                        <a:t> بمجهر لايكا </a:t>
                      </a:r>
                      <a:r>
                        <a:rPr lang="en-US" dirty="0"/>
                        <a:t> Icc50</a:t>
                      </a:r>
                      <a:r>
                        <a:rPr lang="ar-SY" dirty="0"/>
                        <a:t> مصبوغة بالهرمونات و </a:t>
                      </a:r>
                      <a:r>
                        <a:rPr lang="ar-SY" dirty="0" err="1"/>
                        <a:t>الإيدوزين</a:t>
                      </a:r>
                      <a:r>
                        <a:rPr lang="ar-SY" dirty="0"/>
                        <a:t> بتكبير 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Y" dirty="0"/>
                        <a:t>ألية جمع الصور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362971"/>
                  </a:ext>
                </a:extLst>
              </a:tr>
              <a:tr h="518833">
                <a:tc>
                  <a:txBody>
                    <a:bodyPr/>
                    <a:lstStyle/>
                    <a:p>
                      <a:pPr algn="ctr"/>
                      <a:r>
                        <a:rPr lang="ar-SY" dirty="0"/>
                        <a:t>صور لظهارة الفم الطبيعية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210878"/>
                  </a:ext>
                </a:extLst>
              </a:tr>
              <a:tr h="518833">
                <a:tc>
                  <a:txBody>
                    <a:bodyPr/>
                    <a:lstStyle/>
                    <a:p>
                      <a:pPr algn="ctr"/>
                      <a:r>
                        <a:rPr lang="ar-SY" dirty="0"/>
                        <a:t>صور لسرطان الخلايا الحرشفية الفموية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oscc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299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BC3C1C4-287A-4FCB-96FF-1E188C314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944" y="174537"/>
            <a:ext cx="4004512" cy="2864452"/>
          </a:xfrm>
          <a:prstGeom prst="rect">
            <a:avLst/>
          </a:prstGeom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D48EF93F-B01D-806C-4A91-2E676FA1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04DFDC02-09BD-8B7D-AD4D-92A475F7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82B3-F477-4255-890F-6F744C5CDD58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7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6713-A3F8-4DF2-A7AA-861DC06F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009" y="652182"/>
            <a:ext cx="9346996" cy="676835"/>
          </a:xfrm>
        </p:spPr>
        <p:txBody>
          <a:bodyPr>
            <a:normAutofit/>
          </a:bodyPr>
          <a:lstStyle/>
          <a:p>
            <a:pPr rtl="1"/>
            <a:r>
              <a:rPr lang="en-US" sz="36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preprocessing: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852B-47D9-4880-868B-479A72EA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94964"/>
            <a:ext cx="9601200" cy="3910853"/>
          </a:xfrm>
        </p:spPr>
        <p:txBody>
          <a:bodyPr>
            <a:normAutofit fontScale="92500" lnSpcReduction="10000"/>
          </a:bodyPr>
          <a:lstStyle/>
          <a:p>
            <a:pPr marL="0" indent="0" rtl="1">
              <a:buNone/>
            </a:pPr>
            <a:r>
              <a:rPr lang="en-US" dirty="0"/>
              <a:t>Load Images</a:t>
            </a:r>
          </a:p>
          <a:p>
            <a:pPr marL="0" indent="0" rtl="1">
              <a:buNone/>
            </a:pPr>
            <a:r>
              <a:rPr lang="en-US" dirty="0"/>
              <a:t>Train / Validation / Test Split</a:t>
            </a:r>
            <a:endParaRPr lang="ar-SA" dirty="0"/>
          </a:p>
          <a:p>
            <a:pPr marL="0" indent="0" rtl="1">
              <a:buNone/>
            </a:pPr>
            <a:r>
              <a:rPr lang="en-US" dirty="0"/>
              <a:t>Resize Images</a:t>
            </a:r>
          </a:p>
          <a:p>
            <a:pPr marL="0" indent="0" rtl="1">
              <a:buNone/>
            </a:pPr>
            <a:r>
              <a:rPr lang="en-US" dirty="0"/>
              <a:t>RGB Conversion</a:t>
            </a:r>
          </a:p>
          <a:p>
            <a:pPr marL="0" indent="0" rtl="1">
              <a:buNone/>
            </a:pPr>
            <a:r>
              <a:rPr lang="en-US" dirty="0"/>
              <a:t>Normalization</a:t>
            </a:r>
          </a:p>
          <a:p>
            <a:pPr marL="0" indent="0" rtl="1">
              <a:buNone/>
            </a:pPr>
            <a:r>
              <a:rPr lang="en-US" dirty="0"/>
              <a:t>Data Augmentation</a:t>
            </a:r>
          </a:p>
          <a:p>
            <a:pPr marL="0" indent="0" rtl="1">
              <a:buNone/>
            </a:pPr>
            <a:r>
              <a:rPr lang="en-US" dirty="0"/>
              <a:t>Batch Generation</a:t>
            </a:r>
          </a:p>
          <a:p>
            <a:pPr marL="0" indent="0" rtl="1">
              <a:buNone/>
            </a:pPr>
            <a:r>
              <a:rPr lang="en-US" dirty="0"/>
              <a:t>CNN Feature Extraction</a:t>
            </a:r>
          </a:p>
          <a:p>
            <a:pPr marL="0" indent="0" rtl="1">
              <a:buNone/>
            </a:pPr>
            <a:r>
              <a:rPr lang="en-US" dirty="0"/>
              <a:t>Prediction</a:t>
            </a:r>
          </a:p>
          <a:p>
            <a:pPr marL="0" indent="0" rtl="1">
              <a:buNone/>
            </a:pPr>
            <a:r>
              <a:rPr lang="en-US" dirty="0"/>
              <a:t>Classification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BBE5157-A771-4FA8-95E5-3D200CD31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271" y="92599"/>
            <a:ext cx="5640729" cy="365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D829D93-3545-41C7-A2E4-0CE6F162F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271" y="3745423"/>
            <a:ext cx="5521124" cy="322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37C5D28-1DA2-EE85-D133-898113E5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2639C389-5330-E94F-F285-3BAC8AA7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3B3AD-88F5-4A6A-A267-27366684AC68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6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3DF4-CD57-4BEB-A8F7-7245E591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تدريب النموذج 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B5D2-2234-45A8-BF2E-4A354A5D0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988" y="2034988"/>
            <a:ext cx="9601200" cy="3581400"/>
          </a:xfrm>
        </p:spPr>
        <p:txBody>
          <a:bodyPr>
            <a:normAutofit/>
          </a:bodyPr>
          <a:lstStyle/>
          <a:p>
            <a:pPr algn="r" rtl="1"/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استخدام نموذج </a:t>
            </a: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InceptionV3</a:t>
            </a:r>
          </a:p>
          <a:p>
            <a:pPr algn="r" rtl="1"/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Epoch = 10 </a:t>
            </a:r>
          </a:p>
          <a:p>
            <a:pPr algn="r" rtl="1"/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Accuracy = 88 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6B7148B-CBDF-F102-C6B5-C3DD3DE3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ACE777EE-3BF5-4AE8-ABD4-83BF4DCA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6E77-D48B-45F1-8F52-FF7283AD32BA}" type="datetime8">
              <a:rPr lang="ar-SA" smtClean="0"/>
              <a:t>27/أيار/26</a:t>
            </a:fld>
            <a:endParaRPr lang="en-US" dirty="0"/>
          </a:p>
        </p:txBody>
      </p:sp>
      <p:pic>
        <p:nvPicPr>
          <p:cNvPr id="8" name="عنصر نائب للمحتوى 6">
            <a:extLst>
              <a:ext uri="{FF2B5EF4-FFF2-40B4-BE49-F238E27FC236}">
                <a16:creationId xmlns:a16="http://schemas.microsoft.com/office/drawing/2014/main" id="{98957D0A-3915-2774-7AFB-7CFD6B4C2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9" t="39284" r="36780" b="8136"/>
          <a:stretch>
            <a:fillRect/>
          </a:stretch>
        </p:blipFill>
        <p:spPr>
          <a:xfrm>
            <a:off x="765616" y="455890"/>
            <a:ext cx="7244065" cy="59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87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6A5C575-3B46-B275-8A57-175DA38E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A818134-70DE-4F9E-2C02-0E35E5A5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DA51-124E-498E-9906-3D6D560C05F8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5871583-A161-4C60-8891-1D14862C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0BCB28B-22C8-3F25-9EEB-5DD9E9F556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8527"/>
            <a:ext cx="10124750" cy="6324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96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0F44-6B95-4F25-83A1-4BB9F223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النتائج</a:t>
            </a:r>
            <a:b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b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confusion matrix                                                   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09789B-87BF-436F-B93A-75067F55C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8" y="2043952"/>
            <a:ext cx="5746376" cy="48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48D04-8F9D-400F-8614-A02D70203D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624" y="2052917"/>
            <a:ext cx="5746376" cy="480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CBE3444E-7908-A76A-68BE-3F64BC0F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8430A95B-239C-9564-00CB-3591CDF1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AE50-A60F-424E-A1ED-F0496A1C0CC9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602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371A-F165-4734-8C8D-44FF1CBDB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النتائج</a:t>
            </a:r>
            <a:br>
              <a:rPr lang="en-US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br>
              <a:rPr lang="en-US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r>
              <a:rPr lang="en-US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                                                      </a:t>
            </a:r>
            <a:r>
              <a:rPr lang="ar-SY" sz="1800" dirty="0">
                <a:effectLst/>
                <a:ea typeface="Calibri" panose="020F0502020204030204" pitchFamily="34" charset="0"/>
                <a:cs typeface="Simplified Arabic" panose="02020603050405020304" pitchFamily="18" charset="-78"/>
              </a:rPr>
              <a:t>مخطط الدقة و الخسارة</a:t>
            </a:r>
            <a:r>
              <a:rPr lang="en-US" sz="1800" dirty="0">
                <a:effectLst/>
                <a:ea typeface="Calibri" panose="020F0502020204030204" pitchFamily="34" charset="0"/>
                <a:cs typeface="Simplified Arabic" panose="02020603050405020304" pitchFamily="18" charset="-78"/>
              </a:rPr>
              <a:t>   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6253D7-D865-4D3B-AC1E-1AB59A7AA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123" y="2528346"/>
            <a:ext cx="8771754" cy="43159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C25A73AF-8943-0BBA-288B-BBEEAEFC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A61B506A-184C-BA64-B75C-2E2E53BC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F7A6-49D4-4521-A9C9-2906A595CFD2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3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1BE4-8F0A-4304-B9D5-3381EA56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ar-SA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:</a:t>
            </a:r>
            <a:r>
              <a:rPr lang="en-US" sz="36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predictions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58E160-31B2-44EA-9810-9DCA34179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9923" y="1663691"/>
            <a:ext cx="5772077" cy="52264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0AE3DA-A6CE-481B-87C1-BF697FFD5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29" y="1640541"/>
            <a:ext cx="5680294" cy="5226496"/>
          </a:xfrm>
          <a:prstGeom prst="rect">
            <a:avLst/>
          </a:prstGeom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35D6E04C-3B1B-BC00-48EB-3C11D335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6B0BCFEC-C555-0AB6-E880-351814AB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A5E05-F7AE-4D34-8583-3748919D2745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432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3DF4-CD57-4BEB-A8F7-7245E591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تدريب النموذج 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B5D2-2234-45A8-BF2E-4A354A5D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استخدام نموذج </a:t>
            </a: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Alex Net </a:t>
            </a:r>
          </a:p>
          <a:p>
            <a:pPr algn="r" rtl="1"/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Epoch = 15 </a:t>
            </a:r>
            <a:endParaRPr lang="ar-SA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Accuracy =91  </a:t>
            </a:r>
            <a:endParaRPr lang="ar-SA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endParaRPr lang="ar-SA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E3B32E3-4C40-D802-36C3-DE755F89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B1CBFE1-8BA1-4E0D-E147-ADF1989B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B382D-8AC5-4364-ACFF-247B34C98478}" type="datetime8">
              <a:rPr lang="ar-SA" smtClean="0"/>
              <a:t>27/أيار/26</a:t>
            </a:fld>
            <a:endParaRPr lang="en-US" dirty="0"/>
          </a:p>
        </p:txBody>
      </p:sp>
      <p:pic>
        <p:nvPicPr>
          <p:cNvPr id="9" name="عنصر نائب للمحتوى 6">
            <a:extLst>
              <a:ext uri="{FF2B5EF4-FFF2-40B4-BE49-F238E27FC236}">
                <a16:creationId xmlns:a16="http://schemas.microsoft.com/office/drawing/2014/main" id="{30F329B2-CC49-1C21-E1F2-D81D2BBAE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3" t="31887" r="37311" b="6459"/>
          <a:stretch>
            <a:fillRect/>
          </a:stretch>
        </p:blipFill>
        <p:spPr>
          <a:xfrm>
            <a:off x="1006999" y="673993"/>
            <a:ext cx="679433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47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1148E54-BCD0-5B42-B9F9-BEA01F2B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1395C5F-02BA-F27C-258D-D02B6F35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DA51-124E-498E-9906-3D6D560C05F8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F4811754-F1FA-8924-E98C-1E35779D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4F8A8974-4CCE-9DA6-A89B-33C2F9DD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5" t="24472" r="9211" b="7173"/>
          <a:stretch>
            <a:fillRect/>
          </a:stretch>
        </p:blipFill>
        <p:spPr>
          <a:xfrm>
            <a:off x="833377" y="685800"/>
            <a:ext cx="10235652" cy="56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72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599B-5222-410D-A1C0-69C2883F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النتائج </a:t>
            </a:r>
            <a:b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b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11" name="عنصر نائب للمحتوى 10">
            <a:extLst>
              <a:ext uri="{FF2B5EF4-FFF2-40B4-BE49-F238E27FC236}">
                <a16:creationId xmlns:a16="http://schemas.microsoft.com/office/drawing/2014/main" id="{9328DC1D-8D16-4123-6125-75352C177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61" t="39599" r="34539" b="10639"/>
          <a:stretch>
            <a:fillRect/>
          </a:stretch>
        </p:blipFill>
        <p:spPr>
          <a:xfrm>
            <a:off x="1045029" y="1884784"/>
            <a:ext cx="10310326" cy="4767943"/>
          </a:xfrm>
          <a:prstGeom prst="rect">
            <a:avLst/>
          </a:prstGeom>
        </p:spPr>
      </p:pic>
      <p:sp>
        <p:nvSpPr>
          <p:cNvPr id="12" name="عنصر نائب لرقم الشريحة 11">
            <a:extLst>
              <a:ext uri="{FF2B5EF4-FFF2-40B4-BE49-F238E27FC236}">
                <a16:creationId xmlns:a16="http://schemas.microsoft.com/office/drawing/2014/main" id="{8FA3F94D-6477-C5E7-5BD9-C24C7A00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5F352C11-34B9-472E-2507-54A7FB42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B20F-8BA3-4724-BE8B-1C86D430EE3B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549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FDE18E1-7450-EF62-ADC5-741EF413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828" y="153364"/>
            <a:ext cx="9601200" cy="14859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Interface:</a:t>
            </a:r>
            <a:endParaRPr lang="ar-SA" sz="3200" dirty="0">
              <a:solidFill>
                <a:srgbClr val="0070C0"/>
              </a:solidFill>
            </a:endParaRPr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A4876A9A-5775-A867-A5FF-C6550AB24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797" t="16913" r="2862" b="5203"/>
          <a:stretch>
            <a:fillRect/>
          </a:stretch>
        </p:blipFill>
        <p:spPr>
          <a:xfrm>
            <a:off x="798653" y="775503"/>
            <a:ext cx="10567686" cy="5548319"/>
          </a:xfrm>
          <a:prstGeom prst="rect">
            <a:avLst/>
          </a:prstGeom>
        </p:spPr>
      </p:pic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9751DC4-DB73-466A-B517-3C13D708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DA51-124E-498E-9906-3D6D560C05F8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C263AC09-0E50-33BE-ED84-59C5BAA9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461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C5E74D1-43D4-9BD3-113E-90C1EA79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503E986-2B2A-9992-1EC7-3A25AFA7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DA51-124E-498E-9906-3D6D560C05F8}" type="datetime8">
              <a:rPr lang="ar-SA" smtClean="0"/>
              <a:t>27/أيار/26</a:t>
            </a:fld>
            <a:endParaRPr lang="en-US" dirty="0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BB5FCCB9-2CA3-4E3D-01CC-30D14DA6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  <p:pic>
        <p:nvPicPr>
          <p:cNvPr id="13" name="عنصر نائب للمحتوى 12">
            <a:extLst>
              <a:ext uri="{FF2B5EF4-FFF2-40B4-BE49-F238E27FC236}">
                <a16:creationId xmlns:a16="http://schemas.microsoft.com/office/drawing/2014/main" id="{5D8C4200-055C-ACAD-3F31-6919AAB06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140" t="18260" r="24231"/>
          <a:stretch>
            <a:fillRect/>
          </a:stretch>
        </p:blipFill>
        <p:spPr>
          <a:xfrm>
            <a:off x="699697" y="725386"/>
            <a:ext cx="5671595" cy="5532698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D66A148A-D238-0688-CE36-95B78F8D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23" t="15865" r="22304"/>
          <a:stretch>
            <a:fillRect/>
          </a:stretch>
        </p:blipFill>
        <p:spPr>
          <a:xfrm>
            <a:off x="6352393" y="764972"/>
            <a:ext cx="5856005" cy="5599253"/>
          </a:xfrm>
          <a:prstGeom prst="rect">
            <a:avLst/>
          </a:prstGeom>
        </p:spPr>
      </p:pic>
      <p:sp>
        <p:nvSpPr>
          <p:cNvPr id="16" name="مربع نص 15">
            <a:extLst>
              <a:ext uri="{FF2B5EF4-FFF2-40B4-BE49-F238E27FC236}">
                <a16:creationId xmlns:a16="http://schemas.microsoft.com/office/drawing/2014/main" id="{4B3D9B23-572B-67BE-6BBF-878D768C9848}"/>
              </a:ext>
            </a:extLst>
          </p:cNvPr>
          <p:cNvSpPr txBox="1"/>
          <p:nvPr/>
        </p:nvSpPr>
        <p:spPr>
          <a:xfrm>
            <a:off x="5699388" y="79055"/>
            <a:ext cx="468774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Predictions: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307665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4C78-D0B6-4E78-AA45-673582DA8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35424"/>
          </a:xfrm>
        </p:spPr>
        <p:txBody>
          <a:bodyPr>
            <a:normAutofit/>
          </a:bodyPr>
          <a:lstStyle/>
          <a:p>
            <a:pPr algn="r" rtl="1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الأدوات المستخدمة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6146" name="Picture 2" descr="Structure your code better in Google Colab with Text and Code Cells | by  Mitesh Parmar | Medium">
            <a:extLst>
              <a:ext uri="{FF2B5EF4-FFF2-40B4-BE49-F238E27FC236}">
                <a16:creationId xmlns:a16="http://schemas.microsoft.com/office/drawing/2014/main" id="{07FA91DF-5707-40AD-BE15-7682FAA83B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316" y="3810000"/>
            <a:ext cx="5489183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Google Drive - inventtatte 2025">
            <a:extLst>
              <a:ext uri="{FF2B5EF4-FFF2-40B4-BE49-F238E27FC236}">
                <a16:creationId xmlns:a16="http://schemas.microsoft.com/office/drawing/2014/main" id="{ED187D09-3EB1-4F2C-83D1-B1A049C91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081" y="1066800"/>
            <a:ext cx="37338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What is GitHub? Beginner Guide For GitHub | by Ishara Madusanka | MS Club  of SLIIT | Medium">
            <a:extLst>
              <a:ext uri="{FF2B5EF4-FFF2-40B4-BE49-F238E27FC236}">
                <a16:creationId xmlns:a16="http://schemas.microsoft.com/office/drawing/2014/main" id="{B3A11887-767D-4CC5-8AE5-4C0F83D67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858" y="2231231"/>
            <a:ext cx="4229100" cy="237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3BF6191C-EE33-3FA6-B08A-989186F5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76FDE63-529B-D793-88FB-EA1AFB29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3DE9-3A2D-472C-A44C-A97C7AE38C16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78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E02F-D25B-409A-AEE1-DAAF4483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Y" sz="2800" b="1" dirty="0">
                <a:solidFill>
                  <a:srgbClr val="0070C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التوصيات</a:t>
            </a:r>
            <a:endParaRPr lang="en-US" sz="2800" b="1" dirty="0">
              <a:solidFill>
                <a:srgbClr val="0070C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4D57-84D3-48E0-B3EF-F5076FCD0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buFont typeface="Wingdings" panose="05000000000000000000" pitchFamily="2" charset="2"/>
              <a:buChar char="Ø"/>
            </a:pP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زيادة حجم وتنوع البيانات</a:t>
            </a:r>
          </a:p>
          <a:p>
            <a:pPr algn="r" rtl="1">
              <a:buFont typeface="Wingdings" panose="05000000000000000000" pitchFamily="2" charset="2"/>
              <a:buChar char="Ø"/>
            </a:pPr>
            <a:r>
              <a:rPr lang="ar-S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تحسين النتائج</a:t>
            </a:r>
            <a:endParaRPr lang="ar-SY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>
              <a:buFont typeface="Wingdings" panose="05000000000000000000" pitchFamily="2" charset="2"/>
              <a:buChar char="Ø"/>
            </a:pPr>
            <a:r>
              <a:rPr lang="ar-S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</a:t>
            </a:r>
            <a:r>
              <a:rPr lang="ar-SY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لتحقق السريري</a:t>
            </a:r>
          </a:p>
          <a:p>
            <a:pPr algn="r" rtl="1">
              <a:buFont typeface="Wingdings" panose="05000000000000000000" pitchFamily="2" charset="2"/>
              <a:buChar char="Ø"/>
            </a:pP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F6B0207-10CA-99CF-DB58-674A5E67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A4E1EC0F-335A-E496-323A-80BC1D79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79E3-DFC9-4C89-948A-21B11CAFAA57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296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End | Trailer released for apocalyptic musical starring George Mackay  and Tilda Swinton | Film Stories">
            <a:extLst>
              <a:ext uri="{FF2B5EF4-FFF2-40B4-BE49-F238E27FC236}">
                <a16:creationId xmlns:a16="http://schemas.microsoft.com/office/drawing/2014/main" id="{4DA6ABF4-D579-43C2-B2AA-8ED44D3AF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0"/>
            <a:ext cx="11480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4EBDE82E-186A-A4A3-7250-E7DC1419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9439F17-80F2-B0DF-EAFE-C7E04EEA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9381-AACD-4F5B-B6AE-A5A9C8A642BC}" type="datetime8">
              <a:rPr lang="ar-SA" smtClean="0"/>
              <a:t>27/أيار/26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7373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{1AFAFAD4-7A1D-43E7-8311-C6178B4CC3E8}tf10001105</Template>
  <TotalTime>1660</TotalTime>
  <Words>625</Words>
  <Application>Microsoft Office PowerPoint</Application>
  <PresentationFormat>شاشة عريضة</PresentationFormat>
  <Paragraphs>173</Paragraphs>
  <Slides>22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7" baseType="lpstr">
      <vt:lpstr>Arabic Typesetting</vt:lpstr>
      <vt:lpstr>Calibri</vt:lpstr>
      <vt:lpstr>Franklin Gothic Book</vt:lpstr>
      <vt:lpstr>Wingdings</vt:lpstr>
      <vt:lpstr>Crop</vt:lpstr>
      <vt:lpstr>الجامعة السورية الخاصة  كلية هندسة الحاسوب و المعلوماتية قسم الذكاء الصنعي و علوم البيانات</vt:lpstr>
      <vt:lpstr>عرض تقديمي في PowerPoint</vt:lpstr>
      <vt:lpstr>عرض تقديمي في PowerPoint</vt:lpstr>
      <vt:lpstr>الفوائد المتوقعة من المشروع</vt:lpstr>
      <vt:lpstr>الحل المقترح باستخدام نموذج ذكاء اصطناعي متقدم </vt:lpstr>
      <vt:lpstr>عرض تقديمي في PowerPoint</vt:lpstr>
      <vt:lpstr>خطوات بناء المشروع (خوارزمية الحل)</vt:lpstr>
      <vt:lpstr>مجموعة البيانات</vt:lpstr>
      <vt:lpstr>preprocessing:</vt:lpstr>
      <vt:lpstr>تدريب النموذج </vt:lpstr>
      <vt:lpstr>عرض تقديمي في PowerPoint</vt:lpstr>
      <vt:lpstr>النتائج  confusion matrix                                                    </vt:lpstr>
      <vt:lpstr>النتائج                                                         مخطط الدقة و الخسارة   </vt:lpstr>
      <vt:lpstr> :predictions</vt:lpstr>
      <vt:lpstr>تدريب النموذج </vt:lpstr>
      <vt:lpstr>عرض تقديمي في PowerPoint</vt:lpstr>
      <vt:lpstr>النتائج   </vt:lpstr>
      <vt:lpstr>Interface:</vt:lpstr>
      <vt:lpstr>عرض تقديمي في PowerPoint</vt:lpstr>
      <vt:lpstr>الأدوات المستخدمة</vt:lpstr>
      <vt:lpstr>التوصيات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layth alabrahem</cp:lastModifiedBy>
  <cp:revision>8</cp:revision>
  <dcterms:created xsi:type="dcterms:W3CDTF">2025-04-20T11:48:09Z</dcterms:created>
  <dcterms:modified xsi:type="dcterms:W3CDTF">2026-05-27T12:15:00Z</dcterms:modified>
</cp:coreProperties>
</file>